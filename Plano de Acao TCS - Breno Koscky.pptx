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9"/>
  </p:sldIdLst>
  <p:sldSz cy="6858000" cx="12191675"/>
  <p:notesSz cx="6858000" cy="9144000"/>
  <p:embeddedFontLst>
    <p:embeddedFont>
      <p:font typeface="Kodchasan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heqWxc/lvuzREWkMbLt8Mea4Gm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font" Target="fonts/Kodchasan-regular.fntdata"/><Relationship Id="rId31" Type="http://schemas.openxmlformats.org/officeDocument/2006/relationships/font" Target="fonts/Kodchasan-bold.fntdata"/><Relationship Id="rId32" Type="http://schemas.openxmlformats.org/officeDocument/2006/relationships/font" Target="fonts/Kodchasan-italic.fntdata"/><Relationship Id="rId33" Type="http://schemas.openxmlformats.org/officeDocument/2006/relationships/font" Target="fonts/Kodchasan-boldItalic.fntdata"/><Relationship Id="rId34" Type="http://schemas.openxmlformats.org/officeDocument/2006/relationships/font" Target="fonts/Poppins-regular.fntdata"/><Relationship Id="rId35" Type="http://schemas.openxmlformats.org/officeDocument/2006/relationships/font" Target="fonts/Poppins-bold.fntdata"/><Relationship Id="rId36" Type="http://schemas.openxmlformats.org/officeDocument/2006/relationships/font" Target="fonts/Poppins-italic.fntdata"/><Relationship Id="rId37" Type="http://schemas.openxmlformats.org/officeDocument/2006/relationships/font" Target="fonts/Poppins-boldItalic.fntdata"/><Relationship Id="rId38" Type="http://customschemas.google.com/relationships/presentationmetadata" Target="metadata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7" name="Google Shape;5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9" name="Google Shape;5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54f5b03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g3d54f5b030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1" name="Google Shape;67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7" name="Google Shape;73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8" name="Google Shape;79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772400" y="-2286000"/>
            <a:ext cx="7315200" cy="7315200"/>
          </a:xfrm>
          <a:prstGeom prst="ellipse">
            <a:avLst/>
          </a:prstGeom>
          <a:solidFill>
            <a:srgbClr val="3B2D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058400" y="3200400"/>
            <a:ext cx="4114800" cy="4114800"/>
          </a:xfrm>
          <a:prstGeom prst="ellipse">
            <a:avLst/>
          </a:prstGeom>
          <a:solidFill>
            <a:srgbClr val="142D2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68680" y="777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315200" y="7772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ABRIL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68680" y="18288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Plano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8680" y="278892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en-US" sz="70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para a sua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68680" y="4160520"/>
            <a:ext cx="640080" cy="28575"/>
          </a:xfrm>
          <a:prstGeom prst="rect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68680" y="4389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 que construímos no primeiro mês e onde está o dinheiro nos próximos 60 dias.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68680" y="5943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68680" y="61722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Breno Koscky  · 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315200" y="59436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REUNIÃO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315200" y="61722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10 de abril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QUEM É A TCS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02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A PROMESSA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48640" y="192024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Geramos receita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48640" y="2743200"/>
            <a:ext cx="1143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com a sua base de alunos.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48640" y="45720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48640" y="5072539"/>
            <a:ext cx="3520440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48640" y="52120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48640" y="5532120"/>
            <a:ext cx="35205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Time dedicado tocando a régua humana 1:1 com o aluno e estrutura com processos bem desenhados.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416552" y="45720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416552" y="5072539"/>
            <a:ext cx="3520440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416552" y="52120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Inteligência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416552" y="5532120"/>
            <a:ext cx="35205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Dashboard ao vivo da base inteira, atualizado todos os dias, tomada de decisão em cima de 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8284464" y="45720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8284464" y="5072539"/>
            <a:ext cx="3520440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8284464" y="52120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284464" y="5532120"/>
            <a:ext cx="3520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Mais consumo, menos reembolso, mais recompra/receita.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ONDE ESTAMOS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03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A LINHA DO 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48640" y="192024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1 mês construindo. 2 meses colhendo.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097280" y="4377214"/>
            <a:ext cx="10241280" cy="23812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950976" y="4242816"/>
            <a:ext cx="292608" cy="29260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82880" y="34747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28 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1440" y="3794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Contratação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-91440" y="48006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Início do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511296" y="4242816"/>
            <a:ext cx="292608" cy="29260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43200" y="34747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ABRIL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2651760" y="3794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Implementação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2468875" y="4800600"/>
            <a:ext cx="2377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Dashboard, automação , copys, </a:t>
            </a:r>
            <a:b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estrutura e estratégia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53328" y="4224528"/>
            <a:ext cx="329184" cy="329184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5961888" y="4133088"/>
            <a:ext cx="512064" cy="512064"/>
          </a:xfrm>
          <a:prstGeom prst="ellipse">
            <a:avLst/>
          </a:prstGeom>
          <a:noFill/>
          <a:ln cap="flat" cmpd="sng" w="1905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5303520" y="34747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22 ABR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5212080" y="3794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Go-live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5029200" y="48006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Operação no 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8613648" y="4224528"/>
            <a:ext cx="329184" cy="329184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8522208" y="4133088"/>
            <a:ext cx="512064" cy="512064"/>
          </a:xfrm>
          <a:prstGeom prst="ellipse">
            <a:avLst/>
          </a:prstGeom>
          <a:noFill/>
          <a:ln cap="flat" cmpd="sng" w="1905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7863840" y="34747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MAIO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7772400" y="3794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Tração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7589520" y="4800600"/>
            <a:ext cx="2377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Réguas rodando · primeiros númerose o resultado menos reembolso = + receita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1173968" y="4224528"/>
            <a:ext cx="329184" cy="329184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11082528" y="4133088"/>
            <a:ext cx="512064" cy="512064"/>
          </a:xfrm>
          <a:prstGeom prst="ellipse">
            <a:avLst/>
          </a:prstGeom>
          <a:noFill/>
          <a:ln cap="flat" cmpd="sng" w="1905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0424160" y="34747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JUNHO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10332720" y="3794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0149840" y="4800600"/>
            <a:ext cx="2377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Ascensão</a:t>
            </a:r>
            <a:r>
              <a:rPr lang="en-US" sz="9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 dos aluns</a:t>
            </a:r>
            <a:br>
              <a:rPr lang="en-US" sz="9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para outros produtos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548640" y="6126480"/>
            <a:ext cx="1280160" cy="329184"/>
          </a:xfrm>
          <a:prstGeom prst="roundRect">
            <a:avLst>
              <a:gd fmla="val 50000" name="adj"/>
            </a:avLst>
          </a:prstGeom>
          <a:solidFill>
            <a:srgbClr val="2A313D"/>
          </a:solidFill>
          <a:ln>
            <a:noFill/>
          </a:ln>
        </p:spPr>
        <p:txBody>
          <a:bodyPr anchorCtr="0" anchor="ctr" bIns="0" lIns="101600" spcFirstLastPara="1" rIns="1016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■  Concluído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1965960" y="6126480"/>
            <a:ext cx="1463040" cy="329184"/>
          </a:xfrm>
          <a:prstGeom prst="roundRect">
            <a:avLst>
              <a:gd fmla="val 50000" name="adj"/>
            </a:avLst>
          </a:prstGeom>
          <a:solidFill>
            <a:srgbClr val="E8F1F9"/>
          </a:solidFill>
          <a:ln>
            <a:noFill/>
          </a:ln>
        </p:spPr>
        <p:txBody>
          <a:bodyPr anchorCtr="0" anchor="ctr" bIns="0" lIns="101600" spcFirstLastPara="1" rIns="1016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○  Em andamento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 MÊS DE IMPLEMENTAÇÃO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04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ENTREGAS DESTE 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48640" y="1920240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 que foi construído.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548640" y="27432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Quatro pilares prontos para ir ao ar no dia 22 de abril.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48640" y="37033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22960" y="39319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22960" y="4389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22960" y="5118259"/>
            <a:ext cx="21945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22960" y="52578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Visão diária da base inteira: progresso, acessos, funil e receita gerada.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410712" y="37033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3685032" y="39319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3685032" y="4389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Operação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3685032" y="5118259"/>
            <a:ext cx="21945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3685032" y="5257800"/>
            <a:ext cx="21945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Fluxos estratégicos rodando: reembolso, onboarding e ongoing (estrutura).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666E7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272784" y="37033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6547104" y="39319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6547104" y="4389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Processo inteligente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547104" y="5118259"/>
            <a:ext cx="21945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6547104" y="5257800"/>
            <a:ext cx="21945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Mensagens segmentadas por estágio · onboarding, ongoing, ascensão, NPS.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9134856" y="3703320"/>
            <a:ext cx="274320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9409176" y="39319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9409176" y="4389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Estratégia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409176" y="5118259"/>
            <a:ext cx="21945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9409176" y="52578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Análise da jornada, mapeamento dos gargalos e plano de receita.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PILAR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05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PILAR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Dados.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548640" y="31089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O que ele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48640" y="3730752"/>
            <a:ext cx="91440" cy="9144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777240" y="3611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Base de alunos atualizada todo dia direto da Hotmart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48640" y="4233672"/>
            <a:ext cx="91440" cy="9144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777240" y="4114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Funil de engajamento por estágio do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48640" y="4736592"/>
            <a:ext cx="91440" cy="9144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777240" y="46177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Receita por produto, ticket médio e leitura de retorno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48640" y="5239512"/>
            <a:ext cx="91440" cy="9144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77240" y="5120640"/>
            <a:ext cx="4846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Acompanhamento de progresso, acessos, pesquisas, jornada da base e detalhamento do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035040" y="3108960"/>
            <a:ext cx="5605272" cy="3200400"/>
          </a:xfrm>
          <a:prstGeom prst="rect">
            <a:avLst/>
          </a:prstGeom>
          <a:solidFill>
            <a:srgbClr val="1F252F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035040" y="3108960"/>
            <a:ext cx="5605272" cy="36576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217920" y="32004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● ● ●   dashboard.terceirizacs.com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217920" y="3657600"/>
            <a:ext cx="1218438" cy="86868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6355080" y="3749040"/>
            <a:ext cx="989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ALUNOS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355080" y="3950208"/>
            <a:ext cx="98983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681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527798" y="3657600"/>
            <a:ext cx="1218438" cy="86868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7664958" y="3749040"/>
            <a:ext cx="989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RECEITA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664958" y="3950208"/>
            <a:ext cx="98983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R$ 478k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8837676" y="3657600"/>
            <a:ext cx="1218438" cy="86868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8974836" y="3749040"/>
            <a:ext cx="989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PROGRESSO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8974836" y="3950208"/>
            <a:ext cx="98983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6,7%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10147554" y="3657600"/>
            <a:ext cx="1218438" cy="86868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10284714" y="3749040"/>
            <a:ext cx="989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INATIVOS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10284714" y="3950208"/>
            <a:ext cx="98983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57C7C"/>
                </a:solidFill>
                <a:latin typeface="Kodchasan"/>
                <a:ea typeface="Kodchasan"/>
                <a:cs typeface="Kodchasan"/>
                <a:sym typeface="Kodchasan"/>
              </a:rPr>
              <a:t>171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217920" y="4709160"/>
            <a:ext cx="5239512" cy="1417320"/>
          </a:xfrm>
          <a:prstGeom prst="rect">
            <a:avLst/>
          </a:prstGeom>
          <a:solidFill>
            <a:srgbClr val="2A31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6355080" y="4800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FUNIL DE ENGAJAMENTO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355080" y="5074920"/>
            <a:ext cx="4873752" cy="164592"/>
          </a:xfrm>
          <a:prstGeom prst="rect">
            <a:avLst/>
          </a:prstGeom>
          <a:solidFill>
            <a:srgbClr val="E57C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355080" y="5294376"/>
            <a:ext cx="1364255" cy="164592"/>
          </a:xfrm>
          <a:prstGeom prst="rect">
            <a:avLst/>
          </a:prstGeom>
          <a:solidFill>
            <a:srgbClr val="D9D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355080" y="5513832"/>
            <a:ext cx="355892" cy="164592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355080" y="5733288"/>
            <a:ext cx="138402" cy="164592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PILAR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06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PILAR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Três frentes estratégicas conectando a base inteira em uma operação só.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48640" y="3520440"/>
            <a:ext cx="3703320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914400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1508760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103120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115568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709928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868680" y="42976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Fluxo de reembolso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868680" y="470916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Identificação do pedido, abordagem 1:1 e quebra de objeção dentro da janela.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68680" y="566689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868680" y="5760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ATACA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868680" y="5943600"/>
            <a:ext cx="306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R$ </a:t>
            </a:r>
            <a:r>
              <a:rPr b="1" lang="en-US" sz="1500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Reembolso</a:t>
            </a:r>
            <a:r>
              <a:rPr b="1" i="0" lang="en-US" sz="15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 / 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370832" y="3520440"/>
            <a:ext cx="3703320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736592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330952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925312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937760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532120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4690872" y="42976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Onboarding do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4690872" y="4709160"/>
            <a:ext cx="3063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Entender qual é o maior desafio e objetivo para </a:t>
            </a:r>
            <a:r>
              <a:rPr lang="en-US" sz="11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cada a</a:t>
            </a: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luno que entra na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690872" y="566689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4690872" y="5760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ATACA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4690872" y="59436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300 alunos / 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8193024" y="3520440"/>
            <a:ext cx="3703320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8558784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9153144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9747504" y="3886200"/>
            <a:ext cx="201168" cy="201168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8759952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9354312" y="3979641"/>
            <a:ext cx="393192" cy="14287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8513064" y="42976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Régua de ongoing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8513064" y="470916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Relacionamento contínuo, NPS e captura de insights da jornada.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8513064" y="566689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8513064" y="5760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ATACA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8513064" y="59436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Toda 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PILAR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07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PILAR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Processo inteligente.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Mensagens segmentadas por estágio do aluno — humanas, com o tom da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RÉGUA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2377440" y="35204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QUANDO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3291840" y="35204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PERFIL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5852160" y="3520440"/>
            <a:ext cx="5788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MENSAGEM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548640" y="3899726"/>
            <a:ext cx="11091672" cy="9525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57200" y="3977640"/>
            <a:ext cx="11274552" cy="384048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Boas-vindas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2377440" y="402336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3291840" y="40233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Aluno acabou de comprar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5852160" y="4023360"/>
            <a:ext cx="57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Apresentação, disparo do acesso do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548640" y="4443984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Reembolso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2377440" y="4443984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3291840" y="4443984"/>
            <a:ext cx="25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Aluno pediu reembolso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5852160" y="4443984"/>
            <a:ext cx="57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Quebra de objeção +entender real motivo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57200" y="4818888"/>
            <a:ext cx="11274552" cy="384048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548640" y="4864608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Ongoing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2377440" y="4864608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3291840" y="4864608"/>
            <a:ext cx="25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Base toda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5852160" y="4864608"/>
            <a:ext cx="57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Acompanhar a jornada e ser assertivo nas copys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548640" y="5285232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Pesquisa de NPS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2377440" y="5285232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3291840" y="5285232"/>
            <a:ext cx="25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Entender a experiecia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5852160" y="5285232"/>
            <a:ext cx="57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Aqui podemos pensar em uma cadência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57200" y="5660136"/>
            <a:ext cx="11274552" cy="384048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548640" y="57058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2377440" y="5705856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 txBox="1"/>
          <p:nvPr/>
        </p:nvSpPr>
        <p:spPr>
          <a:xfrm>
            <a:off x="3291840" y="5705856"/>
            <a:ext cx="25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Explico mais para  ffrente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5852160" y="5705856"/>
            <a:ext cx="5788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Convite para sprint de conclusão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548640" y="6126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Ascensão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2377440" y="6126480"/>
            <a:ext cx="91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D+?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3291840" y="6126480"/>
            <a:ext cx="25602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Concluiu o curso ou micro</a:t>
            </a:r>
            <a:b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5852160" y="6126480"/>
            <a:ext cx="5788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Próximo passo + oferta cruzada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PILAR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08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PILAR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Estratégia.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Mapeamento da jornada inteira do aluno e onde o dinheiro está parado.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548640" y="3520440"/>
            <a:ext cx="5550408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548640" y="3520440"/>
            <a:ext cx="73152" cy="137160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822960" y="3749040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Análise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822960" y="4160520"/>
            <a:ext cx="509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Diagnóstico completo dos +2900 alunos: progresso, acessos, jornada e funil.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217920" y="3520440"/>
            <a:ext cx="5550408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6217920" y="3520440"/>
            <a:ext cx="73152" cy="137160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6492240" y="3749040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Mapeamento da jornada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6492240" y="4160520"/>
            <a:ext cx="5093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Identificação dos gargalos do BAZAR SECRETO + BÔNUS aula a aula.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48640" y="5010912"/>
            <a:ext cx="5550408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548640" y="5010912"/>
            <a:ext cx="73152" cy="137160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822960" y="5239512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Plano de receita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822960" y="5650992"/>
            <a:ext cx="5093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Ações priorizadas por impacto e velocidade — começando pelo reembolso.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6217920" y="5010912"/>
            <a:ext cx="5550408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217920" y="5010912"/>
            <a:ext cx="73152" cy="137160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 txBox="1"/>
          <p:nvPr/>
        </p:nvSpPr>
        <p:spPr>
          <a:xfrm>
            <a:off x="6492240" y="5239512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Roadmap 60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6492240" y="5650992"/>
            <a:ext cx="5093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Cronograma semanal de execução e métricas de acompanhamento.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E8F1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/>
          </a:p>
        </p:txBody>
      </p:sp>
      <p:sp>
        <p:nvSpPr>
          <p:cNvPr id="363" name="Google Shape;363;p34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ESTRUTURA DO PRODUTO</a:t>
            </a: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09  /  24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BAZAR SECRETO + BÔNUS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A estrutura do curso.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Onde a aluna entra, por onde ela passa, onde ela termina.</a:t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548640" y="3520440"/>
            <a:ext cx="2697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822960" y="37490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6</a:t>
            </a:r>
            <a:endParaRPr/>
          </a:p>
        </p:txBody>
      </p:sp>
      <p:sp>
        <p:nvSpPr>
          <p:cNvPr id="372" name="Google Shape;372;p34"/>
          <p:cNvSpPr/>
          <p:nvPr/>
        </p:nvSpPr>
        <p:spPr>
          <a:xfrm>
            <a:off x="822960" y="4597051"/>
            <a:ext cx="2148840" cy="4762"/>
          </a:xfrm>
          <a:prstGeom prst="rect">
            <a:avLst/>
          </a:prstGeom>
          <a:solidFill>
            <a:srgbClr val="C9D3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822960" y="468172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MÓDULOS PRINCIPAIS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22960" y="49377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+ 2 módulos extras</a:t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3364992" y="3520440"/>
            <a:ext cx="2697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3639312" y="37490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33</a:t>
            </a:r>
            <a:endParaRPr/>
          </a:p>
        </p:txBody>
      </p:sp>
      <p:sp>
        <p:nvSpPr>
          <p:cNvPr id="377" name="Google Shape;377;p34"/>
          <p:cNvSpPr/>
          <p:nvPr/>
        </p:nvSpPr>
        <p:spPr>
          <a:xfrm>
            <a:off x="3639312" y="4597051"/>
            <a:ext cx="2148840" cy="4762"/>
          </a:xfrm>
          <a:prstGeom prst="rect">
            <a:avLst/>
          </a:prstGeom>
          <a:solidFill>
            <a:srgbClr val="C9D3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3639312" y="468172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AULAS PRODUZIDAS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3639312" y="49377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≈ 5 aulas por módulo</a:t>
            </a:r>
            <a:endParaRPr/>
          </a:p>
        </p:txBody>
      </p:sp>
      <p:sp>
        <p:nvSpPr>
          <p:cNvPr id="380" name="Google Shape;380;p34"/>
          <p:cNvSpPr/>
          <p:nvPr/>
        </p:nvSpPr>
        <p:spPr>
          <a:xfrm>
            <a:off x="6181344" y="3520440"/>
            <a:ext cx="2697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6455664" y="374904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8 min</a:t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6455664" y="4597051"/>
            <a:ext cx="2148840" cy="4762"/>
          </a:xfrm>
          <a:prstGeom prst="rect">
            <a:avLst/>
          </a:prstGeom>
          <a:solidFill>
            <a:srgbClr val="C9D3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6455664" y="468172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DURAÇÃO MÉDIA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6455664" y="493776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por aula</a:t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8997696" y="3520440"/>
            <a:ext cx="269748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9272016" y="3749040"/>
            <a:ext cx="2148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30min</a:t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9272016" y="4597051"/>
            <a:ext cx="2148840" cy="4762"/>
          </a:xfrm>
          <a:prstGeom prst="rect">
            <a:avLst/>
          </a:prstGeom>
          <a:solidFill>
            <a:srgbClr val="C9D3D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9272016" y="468172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CARGA POR MÓDULO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9272016" y="4937760"/>
            <a:ext cx="214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curso completo ≈ 4 h</a:t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4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OPORTUNIDADE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777240" y="5916168"/>
            <a:ext cx="105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Sprint de conclusão · termine o curso em 30 dias com 1</a:t>
            </a:r>
            <a:r>
              <a:rPr b="1" lang="en-US" sz="1200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1 </a:t>
            </a:r>
            <a:r>
              <a:rPr b="1" i="0" lang="en-US" sz="12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 minutos por dia · marco e bônus para quem chega no fim.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09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QUEM É A SUA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A foto da base hoje.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Recorte de 16 de março de 2026 · primeira leitura logo após a atualização do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548640" y="3931920"/>
            <a:ext cx="365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258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48640" y="5614035"/>
            <a:ext cx="640080" cy="1905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 txBox="1"/>
          <p:nvPr/>
        </p:nvSpPr>
        <p:spPr>
          <a:xfrm>
            <a:off x="548640" y="580643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alunos na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4434840" y="3931920"/>
            <a:ext cx="365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22 %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4434840" y="5614035"/>
            <a:ext cx="640080" cy="1905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4434840" y="580643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progresso médio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8321040" y="3931920"/>
            <a:ext cx="365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8321040" y="5614035"/>
            <a:ext cx="640080" cy="1905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 txBox="1"/>
          <p:nvPr/>
        </p:nvSpPr>
        <p:spPr>
          <a:xfrm>
            <a:off x="8321040" y="580643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alunos parados em 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10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FUNIL DE ENGAJAMENTO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Onde cada aluno está.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548640" y="2743200"/>
            <a:ext cx="1097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Base de </a:t>
            </a:r>
            <a:r>
              <a:rPr lang="en-US" sz="12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8 alunos · recorte 16/03 · após a atualização do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548640" y="3246120"/>
            <a:ext cx="2649474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48640" y="3246120"/>
            <a:ext cx="2649474" cy="109728"/>
          </a:xfrm>
          <a:prstGeom prst="rect">
            <a:avLst/>
          </a:prstGeom>
          <a:solidFill>
            <a:srgbClr val="E57C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822960" y="3611880"/>
            <a:ext cx="21008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57C7C"/>
                </a:solidFill>
                <a:latin typeface="Poppins"/>
                <a:ea typeface="Poppins"/>
                <a:cs typeface="Poppins"/>
                <a:sym typeface="Poppins"/>
              </a:rPr>
              <a:t>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822960" y="4023360"/>
            <a:ext cx="210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822885" y="5004038"/>
            <a:ext cx="2100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34%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822960" y="5392579"/>
            <a:ext cx="2100834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822960" y="5532120"/>
            <a:ext cx="21008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Comprou e nunca começou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362706" y="3246120"/>
            <a:ext cx="2649474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3362706" y="3246120"/>
            <a:ext cx="2649474" cy="109728"/>
          </a:xfrm>
          <a:prstGeom prst="rect">
            <a:avLst/>
          </a:prstGeom>
          <a:solidFill>
            <a:srgbClr val="D9D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3637026" y="3611880"/>
            <a:ext cx="21008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POUCO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3637026" y="4023360"/>
            <a:ext cx="210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151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3637026" y="5029200"/>
            <a:ext cx="21008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19%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3637026" y="5392579"/>
            <a:ext cx="2100834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3637026" y="5532120"/>
            <a:ext cx="21008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Consumiu até 30%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6176772" y="3246120"/>
            <a:ext cx="2649474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6176772" y="3246120"/>
            <a:ext cx="2649474" cy="109728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6451092" y="3611880"/>
            <a:ext cx="21008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ENGAJADO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6451092" y="4023360"/>
            <a:ext cx="210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6451092" y="5029200"/>
            <a:ext cx="2100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21%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6451092" y="5392579"/>
            <a:ext cx="2100834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 txBox="1"/>
          <p:nvPr/>
        </p:nvSpPr>
        <p:spPr>
          <a:xfrm>
            <a:off x="6451092" y="5532120"/>
            <a:ext cx="21008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Consumiu entre 31% e 69%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8990838" y="3246120"/>
            <a:ext cx="2649474" cy="2697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8990838" y="3246120"/>
            <a:ext cx="2649474" cy="109728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9265158" y="3611880"/>
            <a:ext cx="210083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RECOMPRA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9265158" y="4023360"/>
            <a:ext cx="210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9265158" y="5029200"/>
            <a:ext cx="2100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7% da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9265158" y="5392579"/>
            <a:ext cx="2100834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9265158" y="5532120"/>
            <a:ext cx="210083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Consumiu 70% ou mais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548640" y="6126480"/>
            <a:ext cx="11091672" cy="41148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 txBox="1"/>
          <p:nvPr/>
        </p:nvSpPr>
        <p:spPr>
          <a:xfrm>
            <a:off x="777240" y="6199632"/>
            <a:ext cx="105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→  93% da base ainda não consumiu o suficiente para virar recompra. É aí que a operação entra.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1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OPORTUNIDADES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11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1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1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AS OPORTUNIDADES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1"/>
          <p:cNvSpPr txBox="1"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6 frentes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1"/>
          <p:cNvSpPr txBox="1"/>
          <p:nvPr/>
        </p:nvSpPr>
        <p:spPr>
          <a:xfrm>
            <a:off x="548640" y="333756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para gerar receita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1"/>
          <p:cNvSpPr txBox="1"/>
          <p:nvPr/>
        </p:nvSpPr>
        <p:spPr>
          <a:xfrm>
            <a:off x="548640" y="429768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com a base que já existe.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48640" y="5623560"/>
            <a:ext cx="640080" cy="28575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Cada uma com plano de execução e métrica de acompanhamento.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01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12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Fluxo de reembolso.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548640" y="3108960"/>
            <a:ext cx="5486400" cy="320040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 txBox="1"/>
          <p:nvPr/>
        </p:nvSpPr>
        <p:spPr>
          <a:xfrm>
            <a:off x="777240" y="3291840"/>
            <a:ext cx="502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RECEITA EM RISCO / MÊS | Faturamento  R$ 152.633,00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 txBox="1"/>
          <p:nvPr/>
        </p:nvSpPr>
        <p:spPr>
          <a:xfrm>
            <a:off x="777240" y="3611880"/>
            <a:ext cx="502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R$ 18.134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 txBox="1"/>
          <p:nvPr/>
        </p:nvSpPr>
        <p:spPr>
          <a:xfrm>
            <a:off x="777240" y="5029200"/>
            <a:ext cx="5029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perdidos para reembolso todos os meses 12% (valor)</a:t>
            </a:r>
            <a:endParaRPr b="0" i="0" sz="1300" u="none" cap="none" strike="noStrike">
              <a:solidFill>
                <a:srgbClr val="D9D7E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Obs: Hotmart olha para nümero de vendas</a:t>
            </a:r>
            <a:endParaRPr b="0" i="0" sz="1300" u="none" cap="none" strike="noStrike">
              <a:solidFill>
                <a:srgbClr val="D9D7E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777240" y="5522595"/>
            <a:ext cx="1051560" cy="1905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 txBox="1"/>
          <p:nvPr/>
        </p:nvSpPr>
        <p:spPr>
          <a:xfrm>
            <a:off x="777240" y="56692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FONTE: HOTMART · MARÇO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COMO ATACAMOS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 txBox="1"/>
          <p:nvPr/>
        </p:nvSpPr>
        <p:spPr>
          <a:xfrm>
            <a:off x="6400800" y="36118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 txBox="1"/>
          <p:nvPr/>
        </p:nvSpPr>
        <p:spPr>
          <a:xfrm>
            <a:off x="6903720" y="3630168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Onboarding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 txBox="1"/>
          <p:nvPr/>
        </p:nvSpPr>
        <p:spPr>
          <a:xfrm>
            <a:off x="8732520" y="3657600"/>
            <a:ext cx="292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Disparo de mensagem e apresentacao do </a:t>
            </a:r>
            <a:r>
              <a:rPr lang="en-US" sz="10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responsável</a:t>
            </a:r>
            <a:r>
              <a:rPr lang="en-US" sz="10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 do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 txBox="1"/>
          <p:nvPr/>
        </p:nvSpPr>
        <p:spPr>
          <a:xfrm>
            <a:off x="6400800" y="42976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 txBox="1"/>
          <p:nvPr/>
        </p:nvSpPr>
        <p:spPr>
          <a:xfrm>
            <a:off x="6903720" y="4315968"/>
            <a:ext cx="18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Detecção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 txBox="1"/>
          <p:nvPr/>
        </p:nvSpPr>
        <p:spPr>
          <a:xfrm>
            <a:off x="8732520" y="4343400"/>
            <a:ext cx="29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00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dentifica o pedido de reembolso em tempo real. </a:t>
            </a: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CS dispara mensagem humana antes da janela fechar.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6400800" y="49834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 txBox="1"/>
          <p:nvPr/>
        </p:nvSpPr>
        <p:spPr>
          <a:xfrm>
            <a:off x="6903720" y="50017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Quebra de objeção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8732520" y="50292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Copy específica para o motivo do pedido.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 txBox="1"/>
          <p:nvPr/>
        </p:nvSpPr>
        <p:spPr>
          <a:xfrm>
            <a:off x="6400800" y="56692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 txBox="1"/>
          <p:nvPr/>
        </p:nvSpPr>
        <p:spPr>
          <a:xfrm>
            <a:off x="6903720" y="56875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Mensuração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8732520" y="57150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Resultado medido toda semana no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02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13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 txBox="1"/>
          <p:nvPr/>
        </p:nvSpPr>
        <p:spPr>
          <a:xfrm>
            <a:off x="548640" y="1463040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 txBox="1"/>
          <p:nvPr/>
        </p:nvSpPr>
        <p:spPr>
          <a:xfrm>
            <a:off x="548640" y="1920240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Ativar 82 alunos em 0%.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3"/>
          <p:cNvSpPr txBox="1"/>
          <p:nvPr/>
        </p:nvSpPr>
        <p:spPr>
          <a:xfrm>
            <a:off x="548640" y="3017520"/>
            <a:ext cx="54864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3"/>
          <p:cNvSpPr txBox="1"/>
          <p:nvPr/>
        </p:nvSpPr>
        <p:spPr>
          <a:xfrm>
            <a:off x="6400800" y="3200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QUEM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 txBox="1"/>
          <p:nvPr/>
        </p:nvSpPr>
        <p:spPr>
          <a:xfrm>
            <a:off x="6400800" y="35204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Compraram, entraram no 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e ainda estão em zero.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3"/>
          <p:cNvSpPr txBox="1"/>
          <p:nvPr/>
        </p:nvSpPr>
        <p:spPr>
          <a:xfrm>
            <a:off x="6400800" y="4937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 QUE A OPERAÇÃO FAZ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6400800" y="5422392"/>
            <a:ext cx="73152" cy="73152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 txBox="1"/>
          <p:nvPr/>
        </p:nvSpPr>
        <p:spPr>
          <a:xfrm>
            <a:off x="6583680" y="53035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PDF de boas-vindas com o número do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6400800" y="5788152"/>
            <a:ext cx="73152" cy="73152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 txBox="1"/>
          <p:nvPr/>
        </p:nvSpPr>
        <p:spPr>
          <a:xfrm>
            <a:off x="6583680" y="5669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Disponibilizar materiais somente via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6400800" y="6153912"/>
            <a:ext cx="73152" cy="73152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 txBox="1"/>
          <p:nvPr/>
        </p:nvSpPr>
        <p:spPr>
          <a:xfrm>
            <a:off x="6583680" y="6035040"/>
            <a:ext cx="5303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Régua de ativação mensagem humanizada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4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03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14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4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4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4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Reativar quem esfriou.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4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Distribuição da base por dias sem acesso · recorte 16/03.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 txBox="1"/>
          <p:nvPr/>
        </p:nvSpPr>
        <p:spPr>
          <a:xfrm>
            <a:off x="548640" y="36576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0–14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2560320" y="3685032"/>
            <a:ext cx="6858000" cy="29260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2560320" y="3685032"/>
            <a:ext cx="6858000" cy="292608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 txBox="1"/>
          <p:nvPr/>
        </p:nvSpPr>
        <p:spPr>
          <a:xfrm>
            <a:off x="9509760" y="3639312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144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 txBox="1"/>
          <p:nvPr/>
        </p:nvSpPr>
        <p:spPr>
          <a:xfrm>
            <a:off x="10241280" y="36850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ativos · manter ritmo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 txBox="1"/>
          <p:nvPr/>
        </p:nvSpPr>
        <p:spPr>
          <a:xfrm>
            <a:off x="548640" y="437083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15–30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2560320" y="4398264"/>
            <a:ext cx="6858000" cy="29260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2560320" y="4398264"/>
            <a:ext cx="3905250" cy="292608"/>
          </a:xfrm>
          <a:prstGeom prst="rect">
            <a:avLst/>
          </a:prstGeom>
          <a:solidFill>
            <a:srgbClr val="D9D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 txBox="1"/>
          <p:nvPr/>
        </p:nvSpPr>
        <p:spPr>
          <a:xfrm>
            <a:off x="9509760" y="435254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4"/>
          <p:cNvSpPr txBox="1"/>
          <p:nvPr/>
        </p:nvSpPr>
        <p:spPr>
          <a:xfrm>
            <a:off x="10241280" y="439826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alerta · empurrar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 txBox="1"/>
          <p:nvPr/>
        </p:nvSpPr>
        <p:spPr>
          <a:xfrm>
            <a:off x="548640" y="508406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31–60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2560320" y="5111496"/>
            <a:ext cx="6858000" cy="29260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2560320" y="5111496"/>
            <a:ext cx="5429250" cy="292608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 txBox="1"/>
          <p:nvPr/>
        </p:nvSpPr>
        <p:spPr>
          <a:xfrm>
            <a:off x="9509760" y="5065776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4"/>
          <p:cNvSpPr txBox="1"/>
          <p:nvPr/>
        </p:nvSpPr>
        <p:spPr>
          <a:xfrm>
            <a:off x="10241280" y="511149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resgatar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 txBox="1"/>
          <p:nvPr/>
        </p:nvSpPr>
        <p:spPr>
          <a:xfrm>
            <a:off x="548640" y="579729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&gt;60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2560320" y="5824728"/>
            <a:ext cx="6858000" cy="292608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2560320" y="5824728"/>
            <a:ext cx="3714749" cy="292608"/>
          </a:xfrm>
          <a:prstGeom prst="rect">
            <a:avLst/>
          </a:prstGeom>
          <a:solidFill>
            <a:srgbClr val="E57C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 txBox="1"/>
          <p:nvPr/>
        </p:nvSpPr>
        <p:spPr>
          <a:xfrm>
            <a:off x="9509760" y="577900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57C7C"/>
                </a:solidFill>
                <a:latin typeface="Kodchasan"/>
                <a:ea typeface="Kodchasan"/>
                <a:cs typeface="Kodchasan"/>
                <a:sym typeface="Kodchasan"/>
              </a:rPr>
              <a:t>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 txBox="1"/>
          <p:nvPr/>
        </p:nvSpPr>
        <p:spPr>
          <a:xfrm>
            <a:off x="10241280" y="58247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risco real de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548640" y="6263640"/>
            <a:ext cx="11091672" cy="384048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 txBox="1"/>
          <p:nvPr/>
        </p:nvSpPr>
        <p:spPr>
          <a:xfrm>
            <a:off x="777240" y="632764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→  192 alunos esfriaram acima de 30 dias. A janela ainda está aberta.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5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04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15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5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5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Sprint de consumo.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5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Gamificar o consumo do BAZAR e criar comunidade no caminho.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548640" y="3520440"/>
            <a:ext cx="370332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548640" y="3520440"/>
            <a:ext cx="3703320" cy="9144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 txBox="1"/>
          <p:nvPr/>
        </p:nvSpPr>
        <p:spPr>
          <a:xfrm>
            <a:off x="3337560" y="37947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5"/>
          <p:cNvSpPr txBox="1"/>
          <p:nvPr/>
        </p:nvSpPr>
        <p:spPr>
          <a:xfrm>
            <a:off x="868680" y="3931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PROMESSA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5"/>
          <p:cNvSpPr txBox="1"/>
          <p:nvPr/>
        </p:nvSpPr>
        <p:spPr>
          <a:xfrm>
            <a:off x="868680" y="4297680"/>
            <a:ext cx="3063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Termine o curso em 30 dias dedicando 1</a:t>
            </a:r>
            <a:r>
              <a:rPr b="1" lang="en-US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1</a:t>
            </a: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 minutos por dia</a:t>
            </a:r>
            <a:r>
              <a:rPr b="1" lang="en-US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 </a:t>
            </a:r>
            <a:endParaRPr b="1">
              <a:solidFill>
                <a:srgbClr val="1F252F"/>
              </a:solidFill>
              <a:latin typeface="Kodchasan"/>
              <a:ea typeface="Kodchasan"/>
              <a:cs typeface="Kodchasan"/>
              <a:sym typeface="Kodchas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(aqui eu tirei os finais de semana)</a:t>
            </a: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5"/>
          <p:cNvSpPr/>
          <p:nvPr/>
        </p:nvSpPr>
        <p:spPr>
          <a:xfrm>
            <a:off x="868680" y="548401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 txBox="1"/>
          <p:nvPr/>
        </p:nvSpPr>
        <p:spPr>
          <a:xfrm>
            <a:off x="868680" y="56235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Marco para a aluna celebrar a jornada.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4370832" y="3520440"/>
            <a:ext cx="370332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4370832" y="3520440"/>
            <a:ext cx="3703320" cy="91440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 txBox="1"/>
          <p:nvPr/>
        </p:nvSpPr>
        <p:spPr>
          <a:xfrm>
            <a:off x="7159752" y="37947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5"/>
          <p:cNvSpPr txBox="1"/>
          <p:nvPr/>
        </p:nvSpPr>
        <p:spPr>
          <a:xfrm>
            <a:off x="4690872" y="3931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5"/>
          <p:cNvSpPr txBox="1"/>
          <p:nvPr/>
        </p:nvSpPr>
        <p:spPr>
          <a:xfrm>
            <a:off x="4690872" y="429768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Ranking semanal de consumo dentro da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4690872" y="548401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 txBox="1"/>
          <p:nvPr/>
        </p:nvSpPr>
        <p:spPr>
          <a:xfrm>
            <a:off x="4690872" y="56235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Sorteio de bônus + reconhecimento público.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8193024" y="3520440"/>
            <a:ext cx="370332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8193024" y="3520440"/>
            <a:ext cx="3703320" cy="91440"/>
          </a:xfrm>
          <a:prstGeom prst="rect">
            <a:avLst/>
          </a:prstGeom>
          <a:solidFill>
            <a:srgbClr val="D9D7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5"/>
          <p:cNvSpPr txBox="1"/>
          <p:nvPr/>
        </p:nvSpPr>
        <p:spPr>
          <a:xfrm>
            <a:off x="10981944" y="37947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7449A"/>
                </a:solidFill>
                <a:latin typeface="Kodchasan"/>
                <a:ea typeface="Kodchasan"/>
                <a:cs typeface="Kodchasan"/>
                <a:sym typeface="Kodchasan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 txBox="1"/>
          <p:nvPr/>
        </p:nvSpPr>
        <p:spPr>
          <a:xfrm>
            <a:off x="8513064" y="393192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COMUNIDADE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5"/>
          <p:cNvSpPr txBox="1"/>
          <p:nvPr/>
        </p:nvSpPr>
        <p:spPr>
          <a:xfrm>
            <a:off x="8513064" y="429768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Espaço para alunas que terminaram apoiarem as que estão começando.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8513064" y="5484019"/>
            <a:ext cx="306324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 txBox="1"/>
          <p:nvPr/>
        </p:nvSpPr>
        <p:spPr>
          <a:xfrm>
            <a:off x="8513064" y="56235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Prova social que volta como conversão.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6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05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16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6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6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6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Ascensão de produto.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6"/>
          <p:cNvSpPr txBox="1"/>
          <p:nvPr/>
        </p:nvSpPr>
        <p:spPr>
          <a:xfrm>
            <a:off x="548640" y="278892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Não é criar produto novo sem dados — é acelerar o resultado de quem já comprou.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548640" y="3520440"/>
            <a:ext cx="5440680" cy="288036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 txBox="1"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HOJE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777240" y="3977639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98%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777240" y="51663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do faturamento vem do BAZAR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777240" y="5659755"/>
            <a:ext cx="1051560" cy="1905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777240" y="5806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FOTO IA · 14 alunos · R$ 1.478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6400800" y="3611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O PLANO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6400800" y="4279392"/>
            <a:ext cx="109728" cy="109728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662940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Mapear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8092440" y="4151376"/>
            <a:ext cx="36576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Segmentar alunas com +50% de progresso no BAZAR.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6400800" y="4873752"/>
            <a:ext cx="109728" cy="109728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 txBox="1"/>
          <p:nvPr/>
        </p:nvSpPr>
        <p:spPr>
          <a:xfrm>
            <a:off x="6629400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Posicionar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6"/>
          <p:cNvSpPr txBox="1"/>
          <p:nvPr/>
        </p:nvSpPr>
        <p:spPr>
          <a:xfrm>
            <a:off x="8092440" y="474573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Apresentar o próximo produto como aceleração do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6400800" y="5468112"/>
            <a:ext cx="109728" cy="109728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 txBox="1"/>
          <p:nvPr/>
        </p:nvSpPr>
        <p:spPr>
          <a:xfrm>
            <a:off x="6629400" y="5303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Ofertar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6"/>
          <p:cNvSpPr txBox="1"/>
          <p:nvPr/>
        </p:nvSpPr>
        <p:spPr>
          <a:xfrm>
            <a:off x="8092440" y="534009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Abordagem 1:1 humana via CS, com prova social.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6400800" y="6062472"/>
            <a:ext cx="109728" cy="109728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6"/>
          <p:cNvSpPr txBox="1"/>
          <p:nvPr/>
        </p:nvSpPr>
        <p:spPr>
          <a:xfrm>
            <a:off x="6629400" y="5897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Medir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6"/>
          <p:cNvSpPr txBox="1"/>
          <p:nvPr/>
        </p:nvSpPr>
        <p:spPr>
          <a:xfrm>
            <a:off x="8092440" y="593445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Conversão acompanhada toda semana no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7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OPORTUNIDADE 06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17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7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7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OPORTUNIDADE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7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Renovação estratégica.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7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Dois caminhos diferentes para dois perfis diferentes — comunidade vendida só na renovação.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548640" y="3520440"/>
            <a:ext cx="5550408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548640" y="3520440"/>
            <a:ext cx="5550408" cy="109728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 txBox="1"/>
          <p:nvPr/>
        </p:nvSpPr>
        <p:spPr>
          <a:xfrm>
            <a:off x="777240" y="3886200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PERFIL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7"/>
          <p:cNvSpPr txBox="1"/>
          <p:nvPr/>
        </p:nvSpPr>
        <p:spPr>
          <a:xfrm>
            <a:off x="777240" y="4251960"/>
            <a:ext cx="5093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Tiveram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777240" y="4981099"/>
            <a:ext cx="51663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777240" y="5120640"/>
            <a:ext cx="5093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Convite para ficar na comunidade apoiando quem ainda está no caminho (comunidade somente para alunas com +1 ano).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E7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Gera prova social e mantém o aluno ativo na base.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6217920" y="3520440"/>
            <a:ext cx="5550408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6217920" y="3520440"/>
            <a:ext cx="5550408" cy="109728"/>
          </a:xfrm>
          <a:prstGeom prst="rect">
            <a:avLst/>
          </a:prstGeom>
          <a:solidFill>
            <a:srgbClr val="5744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 txBox="1"/>
          <p:nvPr/>
        </p:nvSpPr>
        <p:spPr>
          <a:xfrm>
            <a:off x="6446520" y="3886200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PERFIL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 txBox="1"/>
          <p:nvPr/>
        </p:nvSpPr>
        <p:spPr>
          <a:xfrm>
            <a:off x="6446520" y="4251960"/>
            <a:ext cx="5093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Ainda não tiveram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6446520" y="4981099"/>
            <a:ext cx="5166360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 txBox="1"/>
          <p:nvPr/>
        </p:nvSpPr>
        <p:spPr>
          <a:xfrm>
            <a:off x="6446520" y="5120640"/>
            <a:ext cx="50932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Renovação para continuar com suporte e mais tempo de mentoria na comunidade.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66E7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A comunidade só é vendida no momento da renovação.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54f5b0305_1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d54f5b0305_1_0"/>
          <p:cNvSpPr txBox="1"/>
          <p:nvPr/>
        </p:nvSpPr>
        <p:spPr>
          <a:xfrm>
            <a:off x="548640" y="411480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d54f5b0305_1_0"/>
          <p:cNvSpPr txBox="1"/>
          <p:nvPr/>
        </p:nvSpPr>
        <p:spPr>
          <a:xfrm>
            <a:off x="7772400" y="411480"/>
            <a:ext cx="384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OPORTUNIDADES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3d54f5b0305_1_0"/>
          <p:cNvSpPr/>
          <p:nvPr/>
        </p:nvSpPr>
        <p:spPr>
          <a:xfrm>
            <a:off x="548640" y="774859"/>
            <a:ext cx="11091600" cy="4800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g3d54f5b0305_1_0"/>
          <p:cNvSpPr txBox="1"/>
          <p:nvPr/>
        </p:nvSpPr>
        <p:spPr>
          <a:xfrm>
            <a:off x="548640" y="6446520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11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d54f5b0305_1_0"/>
          <p:cNvSpPr txBox="1"/>
          <p:nvPr/>
        </p:nvSpPr>
        <p:spPr>
          <a:xfrm>
            <a:off x="7772400" y="6446520"/>
            <a:ext cx="384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d54f5b0305_1_0"/>
          <p:cNvSpPr txBox="1"/>
          <p:nvPr/>
        </p:nvSpPr>
        <p:spPr>
          <a:xfrm>
            <a:off x="548640" y="1463040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AS OPORTUNIDADES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d54f5b0305_1_0"/>
          <p:cNvSpPr txBox="1"/>
          <p:nvPr/>
        </p:nvSpPr>
        <p:spPr>
          <a:xfrm>
            <a:off x="548640" y="2103120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Execucão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d54f5b0305_1_0"/>
          <p:cNvSpPr txBox="1"/>
          <p:nvPr/>
        </p:nvSpPr>
        <p:spPr>
          <a:xfrm>
            <a:off x="548640" y="333756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D9D7EF"/>
                </a:solidFill>
                <a:latin typeface="Kodchasan"/>
                <a:ea typeface="Kodchasan"/>
                <a:cs typeface="Kodchasan"/>
                <a:sym typeface="Kodchasan"/>
              </a:rPr>
              <a:t>Plano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d54f5b0305_1_0"/>
          <p:cNvSpPr txBox="1"/>
          <p:nvPr/>
        </p:nvSpPr>
        <p:spPr>
          <a:xfrm>
            <a:off x="548640" y="429768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Próximos 2 meses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d54f5b0305_1_0"/>
          <p:cNvSpPr/>
          <p:nvPr/>
        </p:nvSpPr>
        <p:spPr>
          <a:xfrm>
            <a:off x="548640" y="5623560"/>
            <a:ext cx="640200" cy="2850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d54f5b0305_1_0"/>
          <p:cNvSpPr txBox="1"/>
          <p:nvPr/>
        </p:nvSpPr>
        <p:spPr>
          <a:xfrm>
            <a:off x="548640" y="5806440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 que é prioridade </a:t>
            </a:r>
            <a:r>
              <a:rPr lang="en-US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e vamos executar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8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8"/>
          <p:cNvSpPr txBox="1"/>
          <p:nvPr/>
        </p:nvSpPr>
        <p:spPr>
          <a:xfrm>
            <a:off x="548640" y="6655779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18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8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8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PLANO DE AÇÃO · MAIO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8"/>
          <p:cNvSpPr txBox="1"/>
          <p:nvPr/>
        </p:nvSpPr>
        <p:spPr>
          <a:xfrm>
            <a:off x="548640" y="192024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 primeiro mês de operação.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548640" y="318211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603504" y="323697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1051560" y="317296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Operar o fluxo de reembolso e medir resultado toda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548640" y="368503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03504" y="373989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 txBox="1"/>
          <p:nvPr/>
        </p:nvSpPr>
        <p:spPr>
          <a:xfrm>
            <a:off x="1051560" y="36758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Testar copy para mudar o resultado do reembolso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603504" y="424281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 txBox="1"/>
          <p:nvPr/>
        </p:nvSpPr>
        <p:spPr>
          <a:xfrm>
            <a:off x="1051560" y="417880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Entender os motivos do reembolso e ajustar a promessa do produto (A</a:t>
            </a:r>
            <a:r>
              <a:rPr lang="en-US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lunos antigos e novos)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548640" y="469087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603504" y="474573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 txBox="1"/>
          <p:nvPr/>
        </p:nvSpPr>
        <p:spPr>
          <a:xfrm>
            <a:off x="1051560" y="468172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Construir e rodar o NPS da base e PDF de boas vindas a</a:t>
            </a:r>
            <a:r>
              <a:rPr lang="en-US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té o final do mês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548640" y="519379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603504" y="524865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1051560" y="518464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Iniciar a régua de reativação para os 88 alunos +0% de progresso no curso e comprou dentro de 25 dias.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548640" y="5696712"/>
            <a:ext cx="292608" cy="292608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603504" y="5751576"/>
            <a:ext cx="182880" cy="18288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 txBox="1"/>
          <p:nvPr/>
        </p:nvSpPr>
        <p:spPr>
          <a:xfrm>
            <a:off x="1051560" y="568756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Conversar com alunos engajados e descobrir maior necessidade deles nesse momento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548640" y="6199632"/>
            <a:ext cx="292500" cy="292500"/>
          </a:xfrm>
          <a:prstGeom prst="rect">
            <a:avLst/>
          </a:prstGeom>
          <a:noFill/>
          <a:ln cap="flat" cmpd="sng" w="12700">
            <a:solidFill>
              <a:srgbClr val="5744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8"/>
          <p:cNvSpPr/>
          <p:nvPr/>
        </p:nvSpPr>
        <p:spPr>
          <a:xfrm>
            <a:off x="603504" y="6254496"/>
            <a:ext cx="183000" cy="183000"/>
          </a:xfrm>
          <a:prstGeom prst="ellipse">
            <a:avLst/>
          </a:prstGeom>
          <a:solidFill>
            <a:srgbClr val="57449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1051560" y="61904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Primeiro relatório de impacto entregue ao final de maio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9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9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9"/>
          <p:cNvSpPr txBox="1"/>
          <p:nvPr/>
        </p:nvSpPr>
        <p:spPr>
          <a:xfrm>
            <a:off x="548640" y="6579572"/>
            <a:ext cx="365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19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9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E7C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9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PLANO DE AÇÃO · JUNHO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9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F252F"/>
                </a:solidFill>
                <a:latin typeface="Kodchasan"/>
                <a:ea typeface="Kodchasan"/>
                <a:cs typeface="Kodchasan"/>
                <a:sym typeface="Kodchasan"/>
              </a:rPr>
              <a:t>O mês da escala.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9"/>
          <p:cNvSpPr/>
          <p:nvPr/>
        </p:nvSpPr>
        <p:spPr>
          <a:xfrm>
            <a:off x="548640" y="318211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9"/>
          <p:cNvSpPr/>
          <p:nvPr/>
        </p:nvSpPr>
        <p:spPr>
          <a:xfrm>
            <a:off x="603504" y="323697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 txBox="1"/>
          <p:nvPr/>
        </p:nvSpPr>
        <p:spPr>
          <a:xfrm>
            <a:off x="1051560" y="317296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Sprint de consumo rodando com ranking e sorteio de bônus, desafio 3</a:t>
            </a:r>
            <a:r>
              <a:rPr lang="en-US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0 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9"/>
          <p:cNvSpPr/>
          <p:nvPr/>
        </p:nvSpPr>
        <p:spPr>
          <a:xfrm>
            <a:off x="548640" y="368503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603504" y="373989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 txBox="1"/>
          <p:nvPr/>
        </p:nvSpPr>
        <p:spPr>
          <a:xfrm>
            <a:off x="1051560" y="36758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Lançar a oferta de ascensão para alunos engajados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548640" y="418795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603504" y="424281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 txBox="1"/>
          <p:nvPr/>
        </p:nvSpPr>
        <p:spPr>
          <a:xfrm>
            <a:off x="1051560" y="41788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Régua de renovação ativa para os dois perfis de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548640" y="469087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603504" y="474573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9"/>
          <p:cNvSpPr txBox="1"/>
          <p:nvPr/>
        </p:nvSpPr>
        <p:spPr>
          <a:xfrm>
            <a:off x="1051560" y="4681728"/>
            <a:ext cx="10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Ajustar copys e jornada com base no NPS de maio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548640" y="519379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603504" y="524865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 txBox="1"/>
          <p:nvPr/>
        </p:nvSpPr>
        <p:spPr>
          <a:xfrm>
            <a:off x="1051560" y="518464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Estruturar a comunidade vendida no momento da renovação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548640" y="569671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603504" y="575157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 txBox="1"/>
          <p:nvPr/>
        </p:nvSpPr>
        <p:spPr>
          <a:xfrm>
            <a:off x="1051560" y="568756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Leitura consolidada de impacto: receita gerada vs receita salva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548640" y="6199632"/>
            <a:ext cx="292608" cy="292608"/>
          </a:xfrm>
          <a:prstGeom prst="rect">
            <a:avLst/>
          </a:prstGeom>
          <a:noFill/>
          <a:ln cap="flat" cmpd="sng" w="12700">
            <a:solidFill>
              <a:srgbClr val="37B5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603504" y="6254496"/>
            <a:ext cx="182880" cy="182880"/>
          </a:xfrm>
          <a:prstGeom prst="ellipse">
            <a:avLst/>
          </a:prstGeom>
          <a:solidFill>
            <a:srgbClr val="37B59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9"/>
          <p:cNvSpPr txBox="1"/>
          <p:nvPr/>
        </p:nvSpPr>
        <p:spPr>
          <a:xfrm>
            <a:off x="1051560" y="619048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52F"/>
                </a:solidFill>
                <a:latin typeface="Poppins"/>
                <a:ea typeface="Poppins"/>
                <a:cs typeface="Poppins"/>
                <a:sym typeface="Poppins"/>
              </a:rPr>
              <a:t>Plano de escala para o segundo semestre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0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0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ACOMPANHAMENTO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3740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20  / 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0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RECEITA BASEADA NO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0"/>
          <p:cNvSpPr txBox="1"/>
          <p:nvPr/>
        </p:nvSpPr>
        <p:spPr>
          <a:xfrm>
            <a:off x="548640" y="192024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Toda ação vira número,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0"/>
          <p:cNvSpPr txBox="1"/>
          <p:nvPr/>
        </p:nvSpPr>
        <p:spPr>
          <a:xfrm>
            <a:off x="548640" y="260604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todo número vira decisão.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0"/>
          <p:cNvSpPr txBox="1"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 dashboard liga cada ação que executamos ao resultado real do aluno.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548640" y="4572000"/>
            <a:ext cx="3703320" cy="16916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0"/>
          <p:cNvSpPr txBox="1"/>
          <p:nvPr/>
        </p:nvSpPr>
        <p:spPr>
          <a:xfrm>
            <a:off x="777240" y="47548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0"/>
          <p:cNvSpPr txBox="1"/>
          <p:nvPr/>
        </p:nvSpPr>
        <p:spPr>
          <a:xfrm>
            <a:off x="777240" y="49377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Quantas mensagens de onboarding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0"/>
          <p:cNvSpPr txBox="1"/>
          <p:nvPr/>
        </p:nvSpPr>
        <p:spPr>
          <a:xfrm>
            <a:off x="777240" y="5440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0"/>
          <p:cNvSpPr txBox="1"/>
          <p:nvPr/>
        </p:nvSpPr>
        <p:spPr>
          <a:xfrm>
            <a:off x="777240" y="5669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0"/>
          <p:cNvSpPr txBox="1"/>
          <p:nvPr/>
        </p:nvSpPr>
        <p:spPr>
          <a:xfrm>
            <a:off x="777240" y="58521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Quanto o reembolso caiu na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4370832" y="4572000"/>
            <a:ext cx="3703320" cy="16916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 txBox="1"/>
          <p:nvPr/>
        </p:nvSpPr>
        <p:spPr>
          <a:xfrm>
            <a:off x="4599432" y="47548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0"/>
          <p:cNvSpPr txBox="1"/>
          <p:nvPr/>
        </p:nvSpPr>
        <p:spPr>
          <a:xfrm>
            <a:off x="4599432" y="49377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Que régua tocou a base inativa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0"/>
          <p:cNvSpPr txBox="1"/>
          <p:nvPr/>
        </p:nvSpPr>
        <p:spPr>
          <a:xfrm>
            <a:off x="4599432" y="5440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0"/>
          <p:cNvSpPr txBox="1"/>
          <p:nvPr/>
        </p:nvSpPr>
        <p:spPr>
          <a:xfrm>
            <a:off x="4599432" y="5669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0"/>
          <p:cNvSpPr txBox="1"/>
          <p:nvPr/>
        </p:nvSpPr>
        <p:spPr>
          <a:xfrm>
            <a:off x="4599432" y="58521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Quanto o engajamento subiu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8193024" y="4572000"/>
            <a:ext cx="3703320" cy="16916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"/>
          <p:cNvSpPr txBox="1"/>
          <p:nvPr/>
        </p:nvSpPr>
        <p:spPr>
          <a:xfrm>
            <a:off x="8421624" y="475488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0"/>
          <p:cNvSpPr txBox="1"/>
          <p:nvPr/>
        </p:nvSpPr>
        <p:spPr>
          <a:xfrm>
            <a:off x="8421624" y="49377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F1F9"/>
                </a:solidFill>
                <a:latin typeface="Poppins"/>
                <a:ea typeface="Poppins"/>
                <a:cs typeface="Poppins"/>
                <a:sym typeface="Poppins"/>
              </a:rPr>
              <a:t>Qual oferta foi para qual aluno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0"/>
          <p:cNvSpPr txBox="1"/>
          <p:nvPr/>
        </p:nvSpPr>
        <p:spPr>
          <a:xfrm>
            <a:off x="8421624" y="5440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0"/>
          <p:cNvSpPr txBox="1"/>
          <p:nvPr/>
        </p:nvSpPr>
        <p:spPr>
          <a:xfrm>
            <a:off x="8421624" y="56692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0"/>
          <p:cNvSpPr txBox="1"/>
          <p:nvPr/>
        </p:nvSpPr>
        <p:spPr>
          <a:xfrm>
            <a:off x="8421624" y="585216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Quanto de receita nova entrou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72" name="Google Shape;772;p35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1F252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5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7449A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/>
          </a:p>
        </p:txBody>
      </p:sp>
      <p:sp>
        <p:nvSpPr>
          <p:cNvPr id="774" name="Google Shape;774;p35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BÔNUS</a:t>
            </a:r>
            <a:endParaRPr/>
          </a:p>
        </p:txBody>
      </p:sp>
      <p:sp>
        <p:nvSpPr>
          <p:cNvPr id="775" name="Google Shape;775;p35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3740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23  /  24</a:t>
            </a:r>
            <a:endParaRPr/>
          </a:p>
        </p:txBody>
      </p:sp>
      <p:sp>
        <p:nvSpPr>
          <p:cNvPr id="777" name="Google Shape;777;p35"/>
          <p:cNvSpPr txBox="1"/>
          <p:nvPr/>
        </p:nvSpPr>
        <p:spPr>
          <a:xfrm>
            <a:off x="7772400" y="6446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BAZAR SECRETO + BÔNUS</a:t>
            </a:r>
            <a:endParaRPr/>
          </a:p>
        </p:txBody>
      </p:sp>
      <p:sp>
        <p:nvSpPr>
          <p:cNvPr id="778" name="Google Shape;778;p35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BÔNUS</a:t>
            </a:r>
            <a:endParaRPr/>
          </a:p>
        </p:txBody>
      </p:sp>
      <p:sp>
        <p:nvSpPr>
          <p:cNvPr id="779" name="Google Shape;779;p35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Melhorias no produto.</a:t>
            </a:r>
            <a:endParaRPr/>
          </a:p>
        </p:txBody>
      </p:sp>
      <p:sp>
        <p:nvSpPr>
          <p:cNvPr id="780" name="Google Shape;780;p35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Pequenos ajustes dentro do curso que sustentam todas as oportunidades acima.</a:t>
            </a:r>
            <a:endParaRPr/>
          </a:p>
        </p:txBody>
      </p:sp>
      <p:sp>
        <p:nvSpPr>
          <p:cNvPr id="781" name="Google Shape;781;p35"/>
          <p:cNvSpPr/>
          <p:nvPr/>
        </p:nvSpPr>
        <p:spPr>
          <a:xfrm>
            <a:off x="548640" y="3520440"/>
            <a:ext cx="3703320" cy="26060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5"/>
          <p:cNvSpPr txBox="1"/>
          <p:nvPr/>
        </p:nvSpPr>
        <p:spPr>
          <a:xfrm>
            <a:off x="822960" y="379476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01</a:t>
            </a:r>
            <a:endParaRPr/>
          </a:p>
        </p:txBody>
      </p:sp>
      <p:sp>
        <p:nvSpPr>
          <p:cNvPr id="783" name="Google Shape;783;p35"/>
          <p:cNvSpPr txBox="1"/>
          <p:nvPr/>
        </p:nvSpPr>
        <p:spPr>
          <a:xfrm>
            <a:off x="822960" y="42062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Próximo passo na aula</a:t>
            </a:r>
            <a:endParaRPr/>
          </a:p>
        </p:txBody>
      </p:sp>
      <p:sp>
        <p:nvSpPr>
          <p:cNvPr id="784" name="Google Shape;784;p35"/>
          <p:cNvSpPr/>
          <p:nvPr/>
        </p:nvSpPr>
        <p:spPr>
          <a:xfrm>
            <a:off x="822960" y="5026819"/>
            <a:ext cx="3154680" cy="4762"/>
          </a:xfrm>
          <a:prstGeom prst="rect">
            <a:avLst/>
          </a:prstGeom>
          <a:solidFill>
            <a:srgbClr val="3740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5"/>
          <p:cNvSpPr txBox="1"/>
          <p:nvPr/>
        </p:nvSpPr>
        <p:spPr>
          <a:xfrm>
            <a:off x="822960" y="516636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Toda aula menciona, no encerramento, o próximo produto da jornada — a ascensão fica plantada antes da oferta acontecer.</a:t>
            </a:r>
            <a:endParaRPr/>
          </a:p>
        </p:txBody>
      </p:sp>
      <p:sp>
        <p:nvSpPr>
          <p:cNvPr id="786" name="Google Shape;786;p35"/>
          <p:cNvSpPr/>
          <p:nvPr/>
        </p:nvSpPr>
        <p:spPr>
          <a:xfrm>
            <a:off x="4370832" y="3520440"/>
            <a:ext cx="3703320" cy="26060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5"/>
          <p:cNvSpPr txBox="1"/>
          <p:nvPr/>
        </p:nvSpPr>
        <p:spPr>
          <a:xfrm>
            <a:off x="4645152" y="379476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02</a:t>
            </a:r>
            <a:endParaRPr/>
          </a:p>
        </p:txBody>
      </p:sp>
      <p:sp>
        <p:nvSpPr>
          <p:cNvPr id="788" name="Google Shape;788;p35"/>
          <p:cNvSpPr txBox="1"/>
          <p:nvPr/>
        </p:nvSpPr>
        <p:spPr>
          <a:xfrm>
            <a:off x="4645152" y="42062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CS na boas-vindas</a:t>
            </a:r>
            <a:endParaRPr/>
          </a:p>
        </p:txBody>
      </p:sp>
      <p:sp>
        <p:nvSpPr>
          <p:cNvPr id="789" name="Google Shape;789;p35"/>
          <p:cNvSpPr/>
          <p:nvPr/>
        </p:nvSpPr>
        <p:spPr>
          <a:xfrm>
            <a:off x="4645152" y="5026819"/>
            <a:ext cx="3154680" cy="4762"/>
          </a:xfrm>
          <a:prstGeom prst="rect">
            <a:avLst/>
          </a:prstGeom>
          <a:solidFill>
            <a:srgbClr val="3740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5"/>
          <p:cNvSpPr txBox="1"/>
          <p:nvPr/>
        </p:nvSpPr>
        <p:spPr>
          <a:xfrm>
            <a:off x="4645152" y="5166360"/>
            <a:ext cx="31548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Se </a:t>
            </a:r>
            <a:r>
              <a:rPr b="0" i="0" lang="en-US" sz="11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o engajamento da aluna está baixo, disponibilizar o número do CS dentro da aula de boas-vindas</a:t>
            </a:r>
            <a:r>
              <a:rPr lang="en-US" sz="1100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b="0" i="0" lang="en-US" sz="11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com uma razão clara para ela puxar o contato.</a:t>
            </a:r>
            <a:endParaRPr/>
          </a:p>
        </p:txBody>
      </p:sp>
      <p:sp>
        <p:nvSpPr>
          <p:cNvPr id="791" name="Google Shape;791;p35"/>
          <p:cNvSpPr/>
          <p:nvPr/>
        </p:nvSpPr>
        <p:spPr>
          <a:xfrm>
            <a:off x="8193024" y="3520440"/>
            <a:ext cx="3703320" cy="2606040"/>
          </a:xfrm>
          <a:prstGeom prst="rect">
            <a:avLst/>
          </a:prstGeom>
          <a:solidFill>
            <a:srgbClr val="2A313D"/>
          </a:solidFill>
          <a:ln cap="flat" cmpd="sng" w="9525">
            <a:solidFill>
              <a:srgbClr val="374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5"/>
          <p:cNvSpPr txBox="1"/>
          <p:nvPr/>
        </p:nvSpPr>
        <p:spPr>
          <a:xfrm>
            <a:off x="8467344" y="379476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B594"/>
                </a:solidFill>
                <a:latin typeface="Kodchasan"/>
                <a:ea typeface="Kodchasan"/>
                <a:cs typeface="Kodchasan"/>
                <a:sym typeface="Kodchasan"/>
              </a:rPr>
              <a:t>03</a:t>
            </a:r>
            <a:endParaRPr/>
          </a:p>
        </p:txBody>
      </p:sp>
      <p:sp>
        <p:nvSpPr>
          <p:cNvPr id="793" name="Google Shape;793;p35"/>
          <p:cNvSpPr txBox="1"/>
          <p:nvPr/>
        </p:nvSpPr>
        <p:spPr>
          <a:xfrm>
            <a:off x="8467344" y="420624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Venda dentro da aula</a:t>
            </a:r>
            <a:endParaRPr/>
          </a:p>
        </p:txBody>
      </p:sp>
      <p:sp>
        <p:nvSpPr>
          <p:cNvPr id="794" name="Google Shape;794;p35"/>
          <p:cNvSpPr/>
          <p:nvPr/>
        </p:nvSpPr>
        <p:spPr>
          <a:xfrm>
            <a:off x="8467344" y="5026819"/>
            <a:ext cx="3154680" cy="4762"/>
          </a:xfrm>
          <a:prstGeom prst="rect">
            <a:avLst/>
          </a:prstGeom>
          <a:solidFill>
            <a:srgbClr val="3740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5"/>
          <p:cNvSpPr txBox="1"/>
          <p:nvPr/>
        </p:nvSpPr>
        <p:spPr>
          <a:xfrm>
            <a:off x="8467344" y="5166360"/>
            <a:ext cx="31548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Cada aula é uma janela de vend</a:t>
            </a:r>
            <a:r>
              <a:rPr lang="en-US" sz="1100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a, </a:t>
            </a:r>
            <a:r>
              <a:rPr b="0" i="0" lang="en-US" sz="11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 o produto seguinte aparece de forma natural, sem quebrar a experiência de quem está consumindo.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5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B2D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/>
          <p:nvPr/>
        </p:nvSpPr>
        <p:spPr>
          <a:xfrm>
            <a:off x="9144000" y="2743200"/>
            <a:ext cx="4572000" cy="4572000"/>
          </a:xfrm>
          <a:prstGeom prst="ellipse">
            <a:avLst/>
          </a:prstGeom>
          <a:solidFill>
            <a:srgbClr val="142D2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1"/>
          <p:cNvSpPr txBox="1"/>
          <p:nvPr/>
        </p:nvSpPr>
        <p:spPr>
          <a:xfrm>
            <a:off x="868680" y="777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TERCEIRIZA 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1"/>
          <p:cNvSpPr txBox="1"/>
          <p:nvPr/>
        </p:nvSpPr>
        <p:spPr>
          <a:xfrm>
            <a:off x="86868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E8F1F9"/>
                </a:solidFill>
                <a:latin typeface="Kodchasan"/>
                <a:ea typeface="Kodchasan"/>
                <a:cs typeface="Kodchasan"/>
                <a:sym typeface="Kodchasan"/>
              </a:rPr>
              <a:t>Vamos colher.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868680" y="3383280"/>
            <a:ext cx="640080" cy="28575"/>
          </a:xfrm>
          <a:prstGeom prst="rect">
            <a:avLst/>
          </a:prstGeom>
          <a:solidFill>
            <a:srgbClr val="37B5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 txBox="1"/>
          <p:nvPr/>
        </p:nvSpPr>
        <p:spPr>
          <a:xfrm>
            <a:off x="868680" y="3611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1 mês construindo. A partir do dia 22, a operação trabalha por você.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1"/>
          <p:cNvSpPr txBox="1"/>
          <p:nvPr/>
        </p:nvSpPr>
        <p:spPr>
          <a:xfrm>
            <a:off x="868674" y="5402504"/>
            <a:ext cx="713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1500" u="none" cap="none" strike="noStrike">
                <a:solidFill>
                  <a:srgbClr val="37B594"/>
                </a:solidFill>
                <a:latin typeface="Poppins"/>
                <a:ea typeface="Poppins"/>
                <a:cs typeface="Poppins"/>
                <a:sym typeface="Poppins"/>
              </a:rPr>
              <a:t>FALE COM A GENTE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1"/>
          <p:cNvSpPr txBox="1"/>
          <p:nvPr/>
        </p:nvSpPr>
        <p:spPr>
          <a:xfrm>
            <a:off x="868680" y="58064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@terceirizacs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1"/>
          <p:cNvSpPr txBox="1"/>
          <p:nvPr/>
        </p:nvSpPr>
        <p:spPr>
          <a:xfrm>
            <a:off x="868680" y="6080760"/>
            <a:ext cx="64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9D7EF"/>
                </a:solidFill>
                <a:latin typeface="Poppins"/>
                <a:ea typeface="Poppins"/>
                <a:cs typeface="Poppins"/>
                <a:sym typeface="Poppins"/>
              </a:rPr>
              <a:t>contato@terceirizacs.com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1"/>
          <p:cNvSpPr txBox="1"/>
          <p:nvPr/>
        </p:nvSpPr>
        <p:spPr>
          <a:xfrm>
            <a:off x="7315200" y="6446520"/>
            <a:ext cx="4297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AA4B4"/>
                </a:solidFill>
                <a:latin typeface="Poppins"/>
                <a:ea typeface="Poppins"/>
                <a:cs typeface="Poppins"/>
                <a:sym typeface="Poppins"/>
              </a:rPr>
              <a:t>PLANO DE AÇÃO · Maio ·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57449A"/>
                </a:solidFill>
                <a:latin typeface="Poppins"/>
              </a:rPr>
              <a:t>TERCEIRIZA 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300">
                <a:solidFill>
                  <a:srgbClr val="666E7C"/>
                </a:solidFill>
                <a:latin typeface="Poppins"/>
              </a:rPr>
              <a:t>COMPROMISSOS · MAIO E JUNHO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77485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37B594"/>
                </a:solidFill>
                <a:latin typeface="Poppins"/>
              </a:rPr>
              <a:t>PARA O BRENO PRINTAR E GUARDAR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1F252F"/>
                </a:solidFill>
                <a:latin typeface="Kodchasan"/>
              </a:rPr>
              <a:t>Cobre a gente.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66E7C"/>
                </a:solidFill>
                <a:latin typeface="Poppins"/>
              </a:rPr>
              <a:t>Os compromissos da TCS com você nos próximos 60 dias.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9544"/>
            <a:ext cx="11274552" cy="502920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410712"/>
            <a:ext cx="164592" cy="164592"/>
          </a:xfrm>
          <a:prstGeom prst="ellipse">
            <a:avLst/>
          </a:prstGeom>
          <a:solidFill>
            <a:srgbClr val="57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64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57449A"/>
                </a:solidFill>
                <a:latin typeface="Kodchasan"/>
              </a:rPr>
              <a:t>22 ABR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0899" y="3337560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36499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Go-live · operação da TCS no ar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86784"/>
            <a:ext cx="164592" cy="164592"/>
          </a:xfrm>
          <a:prstGeom prst="ellipse">
            <a:avLst/>
          </a:prstGeom>
          <a:solidFill>
            <a:srgbClr val="57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410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57449A"/>
                </a:solidFill>
                <a:latin typeface="Kodchasan"/>
              </a:rPr>
              <a:t>30 ABR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0899" y="3913632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394106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Implementação 100% concluída · todas as réguas no 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61688"/>
            <a:ext cx="11274552" cy="502920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562856"/>
            <a:ext cx="164592" cy="164592"/>
          </a:xfrm>
          <a:prstGeom prst="ellipse">
            <a:avLst/>
          </a:prstGeom>
          <a:solidFill>
            <a:srgbClr val="37B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1713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37B594"/>
                </a:solidFill>
                <a:latin typeface="Kodchasan"/>
              </a:rPr>
              <a:t>TODA SEMANA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0899" y="4489704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517136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Relatório do reembolso · ajuste de copy contínuo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138928"/>
            <a:ext cx="164592" cy="164592"/>
          </a:xfrm>
          <a:prstGeom prst="ellipse">
            <a:avLst/>
          </a:prstGeom>
          <a:solidFill>
            <a:srgbClr val="37B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932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37B594"/>
                </a:solidFill>
                <a:latin typeface="Kodchasan"/>
              </a:rPr>
              <a:t>FIM DE MAIO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0899" y="5065776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509320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NPS + PDF de boas-vindas + 1º relatório de impacto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13832"/>
            <a:ext cx="11274552" cy="502920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5715000"/>
            <a:ext cx="164592" cy="164592"/>
          </a:xfrm>
          <a:prstGeom prst="ellipse">
            <a:avLst/>
          </a:prstGeom>
          <a:solidFill>
            <a:srgbClr val="37B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37B594"/>
                </a:solidFill>
                <a:latin typeface="Kodchasan"/>
              </a:rPr>
              <a:t>JUNHO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0899" y="5641848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566928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Sprint de consumo, ascensão e renovação rodando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6291072"/>
            <a:ext cx="164592" cy="164592"/>
          </a:xfrm>
          <a:prstGeom prst="ellipse">
            <a:avLst/>
          </a:prstGeom>
          <a:solidFill>
            <a:srgbClr val="37B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2453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00">
                <a:solidFill>
                  <a:srgbClr val="37B594"/>
                </a:solidFill>
                <a:latin typeface="Kodchasan"/>
              </a:rPr>
              <a:t>FIM DE JUNHO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0899" y="6217920"/>
            <a:ext cx="4762" cy="320040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6245352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52F"/>
                </a:solidFill>
                <a:latin typeface="Poppins"/>
              </a:rPr>
              <a:t>Leitura consolidada · receita gerada vs salva · plano de escala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98419"/>
            <a:ext cx="11091672" cy="4762"/>
          </a:xfrm>
          <a:prstGeom prst="rect">
            <a:avLst/>
          </a:prstGeom>
          <a:solidFill>
            <a:srgbClr val="C9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00">
                <a:solidFill>
                  <a:srgbClr val="666E7C"/>
                </a:solidFill>
                <a:latin typeface="Poppins"/>
              </a:rPr>
              <a:t>Travou alguma coisa? @terceirizacs · contato@terceirizacs.com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492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200">
                <a:solidFill>
                  <a:srgbClr val="57449A"/>
                </a:solidFill>
                <a:latin typeface="Poppins"/>
              </a:rPr>
              <a:t>TCS × BRENO KOSCKY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